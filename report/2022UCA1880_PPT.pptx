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3" r:id="rId9"/>
    <p:sldId id="269" r:id="rId10"/>
    <p:sldId id="270" r:id="rId11"/>
    <p:sldId id="271" r:id="rId12"/>
    <p:sldId id="277" r:id="rId13"/>
    <p:sldId id="273" r:id="rId14"/>
    <p:sldId id="264" r:id="rId15"/>
    <p:sldId id="275" r:id="rId16"/>
    <p:sldId id="274" r:id="rId17"/>
    <p:sldId id="262" r:id="rId18"/>
    <p:sldId id="265" r:id="rId19"/>
  </p:sldIdLst>
  <p:sldSz cx="18288000" cy="10287000"/>
  <p:notesSz cx="6858000" cy="9144000"/>
  <p:embeddedFontLst>
    <p:embeddedFont>
      <p:font typeface="Archivo Black" panose="020B0604020202020204" charset="0"/>
      <p:regular r:id="rId21"/>
    </p:embeddedFont>
    <p:embeddedFont>
      <p:font typeface="Garet" panose="020B0604020202020204" charset="0"/>
      <p:regular r:id="rId22"/>
    </p:embeddedFont>
    <p:embeddedFont>
      <p:font typeface="Garet Bold" panose="020B0604020202020204" charset="0"/>
      <p:regular r:id="rId23"/>
    </p:embeddedFont>
    <p:embeddedFont>
      <p:font typeface="Garet Light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543" autoAdjust="0"/>
  </p:normalViewPr>
  <p:slideViewPr>
    <p:cSldViewPr>
      <p:cViewPr varScale="1">
        <p:scale>
          <a:sx n="61" d="100"/>
          <a:sy n="61" d="100"/>
        </p:scale>
        <p:origin x="491" y="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A5034-54DB-46AF-9F4E-3DB219A060E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3B767-EB58-4E0F-9EED-A4DFE2E28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9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3B767-EB58-4E0F-9EED-A4DFE2E285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7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E3C93-47C1-D564-11B7-C4342168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B3279-8591-267A-A821-204AD1D0A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AF2DF-24C5-D542-5DA9-52CF57BB5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24A8E-66B6-C10A-F710-1BDE617A9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3B767-EB58-4E0F-9EED-A4DFE2E285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05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53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1328401" y="7806807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81400" y="6409773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Integrating Spatial, Temporal and Physiological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95153" y="7802567"/>
            <a:ext cx="3366096" cy="26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Submitted By – Group 109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95153" y="8142660"/>
            <a:ext cx="3366096" cy="107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Mahi Chaudhary 2022UCA1808</a:t>
            </a:r>
          </a:p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Tanmay Pawar 2022UCA1850</a:t>
            </a:r>
          </a:p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Krrish Kumar 2022UCA1880</a:t>
            </a:r>
          </a:p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endParaRPr lang="en-US" sz="1599" dirty="0">
              <a:solidFill>
                <a:srgbClr val="2B2B2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68700" y="990600"/>
            <a:ext cx="6565700" cy="653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400" dirty="0"/>
              <a:t>NETAJI SUBHAS UNIVERSITY OF TECHNOLOGY</a:t>
            </a:r>
          </a:p>
          <a:p>
            <a:pPr>
              <a:lnSpc>
                <a:spcPts val="2520"/>
              </a:lnSpc>
            </a:pPr>
            <a:r>
              <a:rPr lang="en-US" sz="2400" dirty="0"/>
              <a:t>DEPARTMENT OF COMPUTER SCIENCE ENGINEERING </a:t>
            </a:r>
            <a:endParaRPr lang="en-US" sz="2400" dirty="0">
              <a:solidFill>
                <a:srgbClr val="545454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51999" y="7765276"/>
            <a:ext cx="5170540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Under the Supervision of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Dr Rudresh Dwivedi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53891" y="7765276"/>
            <a:ext cx="338117" cy="338117"/>
          </a:xfrm>
          <a:custGeom>
            <a:avLst/>
            <a:gdLst/>
            <a:ahLst/>
            <a:cxnLst/>
            <a:rect l="l" t="t" r="r" b="b"/>
            <a:pathLst>
              <a:path w="338117" h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362200" y="2739884"/>
            <a:ext cx="10773446" cy="338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MULTI-MODAL</a:t>
            </a:r>
          </a:p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u="none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DEEPFAKE DETECTION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37FCD4-AD60-82DE-93AB-1CC41B5DFBB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00904"/>
            <a:ext cx="1344034" cy="1344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200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2218"/>
              </p:ext>
            </p:extLst>
          </p:nvPr>
        </p:nvGraphicFramePr>
        <p:xfrm>
          <a:off x="9407455" y="2019300"/>
          <a:ext cx="7186250" cy="6572248"/>
        </p:xfrm>
        <a:graphic>
          <a:graphicData uri="http://schemas.openxmlformats.org/drawingml/2006/table">
            <a:tbl>
              <a:tblPr/>
              <a:tblGrid>
                <a:gridCol w="70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214">
                  <a:extLst>
                    <a:ext uri="{9D8B030D-6E8A-4147-A177-3AD203B41FA5}">
                      <a16:colId xmlns:a16="http://schemas.microsoft.com/office/drawing/2014/main" val="2658769476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1.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Overview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3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2.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Literature Survey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4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3.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sym typeface="Garet Bold"/>
                        </a:rPr>
                        <a:t>Motivation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5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4.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Proposed Methodology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6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5.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Physiological Credibility Score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7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6.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Fusion System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8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7.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Results and Comparison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11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 8.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Garet Bold" panose="020B0604020202020204" charset="0"/>
                          <a:ea typeface="Garet Bold"/>
                          <a:cs typeface="Garet Bold"/>
                          <a:sym typeface="Garet Bold"/>
                        </a:rPr>
                        <a:t>Future Work</a:t>
                      </a:r>
                      <a:endParaRPr lang="en-US" sz="2000" dirty="0">
                        <a:latin typeface="Garet Bold" panose="020B0604020202020204" charset="0"/>
                      </a:endParaRP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latin typeface="Garet Bold" panose="020B0604020202020204" charset="0"/>
                        </a:rPr>
                        <a:t>13</a:t>
                      </a:r>
                    </a:p>
                  </a:txBody>
                  <a:tcPr marL="180000" marR="18000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82" y="-30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r>
              <a:rPr lang="en-US" dirty="0"/>
              <a:t>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30366" y="4880657"/>
            <a:ext cx="3828934" cy="178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latin typeface="Garet" panose="020B0604020202020204" charset="0"/>
              </a:rPr>
              <a:t>Deepfake technology refers to AI-created content where a person’s facial appearance has been artificially modified or replaced.</a:t>
            </a:r>
            <a:endParaRPr lang="en-US" sz="200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52166" y="4073525"/>
            <a:ext cx="3120902" cy="213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Though such innovations are legitimate where entertainment, learning, and accessibility are</a:t>
            </a:r>
          </a:p>
          <a:p>
            <a:pPr algn="l">
              <a:lnSpc>
                <a:spcPts val="2800"/>
              </a:lnSpc>
            </a:pPr>
            <a:r>
              <a:rPr lang="en-US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concerned, their abuse presents real challenges.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9691"/>
            <a:ext cx="3120902" cy="248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dirty="0">
                <a:latin typeface="Garet" panose="020B0604020202020204" charset="0"/>
              </a:rPr>
              <a:t>With the current state-of-the-art generative models, it is now possible to produce manipulated videos and images that are almost indistinguishable from real media</a:t>
            </a:r>
            <a:endParaRPr lang="en-US" sz="160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5907" y="400119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1/8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732" y="7017359"/>
            <a:ext cx="3120902" cy="213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Misuse comes with a high cost in areas like</a:t>
            </a:r>
          </a:p>
          <a:p>
            <a:pPr algn="l">
              <a:lnSpc>
                <a:spcPts val="2800"/>
              </a:lnSpc>
            </a:pPr>
            <a:r>
              <a:rPr lang="en-US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misinformation operations, identity theft, political propaganda, and cyber-fraud</a:t>
            </a:r>
          </a:p>
        </p:txBody>
      </p:sp>
      <p:pic>
        <p:nvPicPr>
          <p:cNvPr id="20" name="Picture 19" descr="Fake Image">
            <a:extLst>
              <a:ext uri="{FF2B5EF4-FFF2-40B4-BE49-F238E27FC236}">
                <a16:creationId xmlns:a16="http://schemas.microsoft.com/office/drawing/2014/main" id="{771D0B55-CAD1-1EF6-CE7F-4C99D66F33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5195848"/>
            <a:ext cx="6039629" cy="4671945"/>
          </a:xfrm>
          <a:prstGeom prst="rect">
            <a:avLst/>
          </a:prstGeom>
        </p:spPr>
      </p:pic>
      <p:pic>
        <p:nvPicPr>
          <p:cNvPr id="22" name="Picture 21" descr="Real Image&#10;">
            <a:extLst>
              <a:ext uri="{FF2B5EF4-FFF2-40B4-BE49-F238E27FC236}">
                <a16:creationId xmlns:a16="http://schemas.microsoft.com/office/drawing/2014/main" id="{DDD484D9-8297-4E03-1267-3F8A67DAD1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228" y="112893"/>
            <a:ext cx="6005029" cy="449720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DDD67CB-2253-175B-5787-1A05655A8B81}"/>
              </a:ext>
            </a:extLst>
          </p:cNvPr>
          <p:cNvSpPr txBox="1"/>
          <p:nvPr/>
        </p:nvSpPr>
        <p:spPr>
          <a:xfrm>
            <a:off x="8608107" y="4588126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et" panose="020B0604020202020204" charset="0"/>
              </a:rPr>
              <a:t>REAL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F6151F-8EE6-0304-E18B-31413ACC75B2}"/>
              </a:ext>
            </a:extLst>
          </p:cNvPr>
          <p:cNvSpPr txBox="1"/>
          <p:nvPr/>
        </p:nvSpPr>
        <p:spPr>
          <a:xfrm>
            <a:off x="8686800" y="984784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aret" panose="020B0604020202020204" charset="0"/>
              </a:rPr>
              <a:t>FAKE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09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-585133" y="96393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1821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557564"/>
            <a:ext cx="7279037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Literature Survey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2/8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90994"/>
            <a:ext cx="8823356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Current Methods used for Deepfake detection can be generally classified into 3 categories -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8195" y="5817333"/>
            <a:ext cx="4189499" cy="488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Temporal Methods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83516" y="6420676"/>
            <a:ext cx="5016359" cy="2219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are multimodal approaches, where a CNN architecture is used to detect spatial features and then a RNN is used for temporal modelling and identifying inconsistencies across frames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84142" y="5808118"/>
            <a:ext cx="5183102" cy="488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Physiological Methods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84142" y="6411461"/>
            <a:ext cx="5016359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most recent frontier, which involves analyzing physiological signals like heart rate, which are difficult to reproduce.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6784DBC2-20F5-3874-A4A0-8D1152EFFA7A}"/>
              </a:ext>
            </a:extLst>
          </p:cNvPr>
          <p:cNvSpPr txBox="1"/>
          <p:nvPr/>
        </p:nvSpPr>
        <p:spPr>
          <a:xfrm>
            <a:off x="1095313" y="5808118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Spatial Methods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F5F2B4BD-97A5-C0A3-E17B-77551AB8B463}"/>
              </a:ext>
            </a:extLst>
          </p:cNvPr>
          <p:cNvSpPr txBox="1"/>
          <p:nvPr/>
        </p:nvSpPr>
        <p:spPr>
          <a:xfrm>
            <a:off x="490633" y="6411461"/>
            <a:ext cx="5016359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Here CNNs like Xception</a:t>
            </a: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Net, ResNet and DesNet are extensively used to detect spatial level features in forged video frames 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D9AE614A-B749-E07A-3A93-254C56E4ED4F}"/>
              </a:ext>
            </a:extLst>
          </p:cNvPr>
          <p:cNvSpPr txBox="1"/>
          <p:nvPr/>
        </p:nvSpPr>
        <p:spPr>
          <a:xfrm>
            <a:off x="307922" y="5139910"/>
            <a:ext cx="2876855" cy="41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AC1036B6-79FE-B975-7FA9-5CDC586259E7}"/>
              </a:ext>
            </a:extLst>
          </p:cNvPr>
          <p:cNvSpPr txBox="1"/>
          <p:nvPr/>
        </p:nvSpPr>
        <p:spPr>
          <a:xfrm>
            <a:off x="6267145" y="5161529"/>
            <a:ext cx="2876855" cy="41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</a:t>
            </a:r>
          </a:p>
        </p:txBody>
      </p:sp>
      <p:sp>
        <p:nvSpPr>
          <p:cNvPr id="43" name="TextBox 10">
            <a:extLst>
              <a:ext uri="{FF2B5EF4-FFF2-40B4-BE49-F238E27FC236}">
                <a16:creationId xmlns:a16="http://schemas.microsoft.com/office/drawing/2014/main" id="{EF0A2B70-726E-A015-0015-0A1D80A85ACE}"/>
              </a:ext>
            </a:extLst>
          </p:cNvPr>
          <p:cNvSpPr txBox="1"/>
          <p:nvPr/>
        </p:nvSpPr>
        <p:spPr>
          <a:xfrm>
            <a:off x="12498838" y="5139910"/>
            <a:ext cx="2876855" cy="41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55907" y="4369734"/>
            <a:ext cx="7203393" cy="87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88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Motivation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3/8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8408" y="1310449"/>
            <a:ext cx="10854847" cy="737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Not withstanding the new developments, current methods are subject to several shortcomings 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4A2EB-A9AC-8B40-6155-81DB56F75A31}"/>
              </a:ext>
            </a:extLst>
          </p:cNvPr>
          <p:cNvSpPr txBox="1"/>
          <p:nvPr/>
        </p:nvSpPr>
        <p:spPr>
          <a:xfrm>
            <a:off x="1219200" y="3141824"/>
            <a:ext cx="8007440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CNN-based detectors are dataset-specific and subject to overfitting and therefore perform less well under exposure to as yet unseen deepfake generation methods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8DB0DA-21C9-94DC-5F55-042218A5CAD2}"/>
              </a:ext>
            </a:extLst>
          </p:cNvPr>
          <p:cNvSpPr txBox="1"/>
          <p:nvPr/>
        </p:nvSpPr>
        <p:spPr>
          <a:xfrm>
            <a:off x="1219200" y="5143500"/>
            <a:ext cx="8007440" cy="73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Temporal models yield greater robustness yet frequently overlook physiologically unrealistic discrepancies.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3776A5-56B0-59A2-A79D-DCBE3110F0CD}"/>
              </a:ext>
            </a:extLst>
          </p:cNvPr>
          <p:cNvSpPr txBox="1"/>
          <p:nvPr/>
        </p:nvSpPr>
        <p:spPr>
          <a:xfrm>
            <a:off x="1219200" y="6819900"/>
            <a:ext cx="8007440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Physiological methods, as a subject of promise, are liable to ambient noise and demand longer video sequences before enabling any stable results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0691A215-CD74-69EE-E415-3B5E22FA8474}"/>
              </a:ext>
            </a:extLst>
          </p:cNvPr>
          <p:cNvSpPr txBox="1"/>
          <p:nvPr/>
        </p:nvSpPr>
        <p:spPr>
          <a:xfrm>
            <a:off x="0" y="3141824"/>
            <a:ext cx="96828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375785F7-F30F-1585-1CE3-CBB66ACCD5EE}"/>
              </a:ext>
            </a:extLst>
          </p:cNvPr>
          <p:cNvSpPr txBox="1"/>
          <p:nvPr/>
        </p:nvSpPr>
        <p:spPr>
          <a:xfrm>
            <a:off x="0" y="5146981"/>
            <a:ext cx="96828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B07949F2-024C-691A-16E2-3BA905E82410}"/>
              </a:ext>
            </a:extLst>
          </p:cNvPr>
          <p:cNvSpPr txBox="1"/>
          <p:nvPr/>
        </p:nvSpPr>
        <p:spPr>
          <a:xfrm>
            <a:off x="0" y="6852721"/>
            <a:ext cx="968282" cy="359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2929-6805-1219-4039-ED06FE10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54270D-5CAF-EDEF-1A2D-C8AA56A783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1792143-1A3D-C995-680D-254CDE003424}"/>
              </a:ext>
            </a:extLst>
          </p:cNvPr>
          <p:cNvSpPr txBox="1"/>
          <p:nvPr/>
        </p:nvSpPr>
        <p:spPr>
          <a:xfrm>
            <a:off x="1067082" y="1009650"/>
            <a:ext cx="11048718" cy="11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6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Preprocessing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16106C8-E855-A3BA-859E-924696AF54EF}"/>
              </a:ext>
            </a:extLst>
          </p:cNvPr>
          <p:cNvGrpSpPr/>
          <p:nvPr/>
        </p:nvGrpSpPr>
        <p:grpSpPr>
          <a:xfrm>
            <a:off x="1828800" y="2781300"/>
            <a:ext cx="8343900" cy="2696233"/>
            <a:chOff x="0" y="-28575"/>
            <a:chExt cx="11125200" cy="3594978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82A3165-0B3C-E47A-7E12-A08E72947C8B}"/>
                </a:ext>
              </a:extLst>
            </p:cNvPr>
            <p:cNvSpPr txBox="1"/>
            <p:nvPr/>
          </p:nvSpPr>
          <p:spPr>
            <a:xfrm>
              <a:off x="0" y="-28575"/>
              <a:ext cx="10218867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800" b="1" dirty="0"/>
                <a:t>Frame Extraction Strategy:</a:t>
              </a:r>
              <a:endParaRPr lang="en-US" sz="2800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3552F34-8B60-4864-022A-C2513E1D6CDF}"/>
                </a:ext>
              </a:extLst>
            </p:cNvPr>
            <p:cNvSpPr txBox="1"/>
            <p:nvPr/>
          </p:nvSpPr>
          <p:spPr>
            <a:xfrm>
              <a:off x="0" y="622861"/>
              <a:ext cx="11125200" cy="29435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Video frames are extracted at 30 frames per second (FPS).</a:t>
              </a:r>
            </a:p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CNN-RNN module uses sequences of 20 consecutive frames to detect short-term temporal anomalies.</a:t>
              </a:r>
            </a:p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</a:t>
              </a:r>
              <a:r>
                <a:rPr lang="en-US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rPPG</a:t>
              </a: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module uses longer sequences of 270 frames to ensure stable heart signal analysis. </a:t>
              </a:r>
            </a:p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377BEEC-453A-04F9-3B94-3A269022BABB}"/>
              </a:ext>
            </a:extLst>
          </p:cNvPr>
          <p:cNvGrpSpPr/>
          <p:nvPr/>
        </p:nvGrpSpPr>
        <p:grpSpPr>
          <a:xfrm>
            <a:off x="1828800" y="6031953"/>
            <a:ext cx="8076918" cy="2696231"/>
            <a:chOff x="0" y="-28575"/>
            <a:chExt cx="10769224" cy="3594973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ADA4B7F-C968-884B-F7D9-B2C4A7AF7954}"/>
                </a:ext>
              </a:extLst>
            </p:cNvPr>
            <p:cNvSpPr txBox="1"/>
            <p:nvPr/>
          </p:nvSpPr>
          <p:spPr>
            <a:xfrm>
              <a:off x="0" y="-28575"/>
              <a:ext cx="10218867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800" b="1" dirty="0"/>
                <a:t>Face Alignment and Normalization:</a:t>
              </a:r>
              <a:endParaRPr lang="en-US" sz="280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005DDF8-AF37-B642-6B00-1733DA9175DE}"/>
                </a:ext>
              </a:extLst>
            </p:cNvPr>
            <p:cNvSpPr txBox="1"/>
            <p:nvPr/>
          </p:nvSpPr>
          <p:spPr>
            <a:xfrm>
              <a:off x="0" y="622858"/>
              <a:ext cx="10769224" cy="29435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Face detection is performed using the </a:t>
              </a:r>
              <a:r>
                <a:rPr lang="en-US" dirty="0" err="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face_recognition</a:t>
              </a: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library. </a:t>
              </a:r>
            </a:p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Input frames are resized to 112×112 pixels. </a:t>
              </a:r>
            </a:p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Pixel values are normalized using standard ImageNet mean and standard deviation to match the pre-trained ResNeXt-50 requirement </a:t>
              </a:r>
            </a:p>
            <a:p>
              <a:pPr marL="285750" lvl="0" indent="-285750">
                <a:lnSpc>
                  <a:spcPts val="285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F4C1E29-D1AF-3947-9791-04E623C8A20D}"/>
              </a:ext>
            </a:extLst>
          </p:cNvPr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6/8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081B612-2861-339D-3B49-8F7B8F4EDA4C}"/>
              </a:ext>
            </a:extLst>
          </p:cNvPr>
          <p:cNvSpPr txBox="1"/>
          <p:nvPr/>
        </p:nvSpPr>
        <p:spPr>
          <a:xfrm>
            <a:off x="401249" y="2844002"/>
            <a:ext cx="1128219" cy="386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6C6B204D-1284-2779-4B8F-71C4E42149D9}"/>
              </a:ext>
            </a:extLst>
          </p:cNvPr>
          <p:cNvSpPr txBox="1"/>
          <p:nvPr/>
        </p:nvSpPr>
        <p:spPr>
          <a:xfrm>
            <a:off x="362867" y="6049266"/>
            <a:ext cx="1128219" cy="386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4922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07" y="4000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48440"/>
            <a:ext cx="129921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80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Proposed 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10800" y="3108899"/>
            <a:ext cx="5791200" cy="44954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designed deepfake detector involves a multi-modal architecture capable of storing an assortment of artifacts. </a:t>
            </a:r>
          </a:p>
          <a:p>
            <a:pPr>
              <a:lnSpc>
                <a:spcPts val="2688"/>
              </a:lnSpc>
            </a:pPr>
            <a:endParaRPr lang="en-US" sz="21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lnSpc>
                <a:spcPts val="2688"/>
              </a:lnSpc>
            </a:pPr>
            <a:endParaRPr lang="en-US" sz="21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framework comprises two parallel analysis streams: a CNN-RNN hybrid model for spatial-temporal feature extraction and an rPPG-based module of physiological signal analysis. Outputs of these pipes are connected with an intelligent fusion system to create a final classification output.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4/8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4CF6FCF5-8194-F9D8-2EC9-943A11F8A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086" y="2385821"/>
            <a:ext cx="8809974" cy="6166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400427" y="7239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3161405"/>
            <a:ext cx="7203393" cy="1508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Physiological Credibility 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5/8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234879"/>
            <a:ext cx="8007440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is a score between 0 and 100 that measures the biological validity of the rPPG signal extracted by checking vital heart rate (HR) and heart rate variability (HRV) parameters with known physiological norms.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E4F632-9919-0526-C4D5-FEDF21FA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821" y="1663781"/>
            <a:ext cx="8564794" cy="69594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D1AA-1D6F-9DB9-443C-1D0B1949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E05C39-5282-2B4F-BE4D-2F589E12D436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33D6F74-97EA-1D63-3F57-B02D2F989D41}"/>
              </a:ext>
            </a:extLst>
          </p:cNvPr>
          <p:cNvSpPr txBox="1"/>
          <p:nvPr/>
        </p:nvSpPr>
        <p:spPr>
          <a:xfrm>
            <a:off x="1067082" y="1009650"/>
            <a:ext cx="11048718" cy="11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6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Fusion System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69CBC7-B8DC-C647-7F74-35C6A5366114}"/>
              </a:ext>
            </a:extLst>
          </p:cNvPr>
          <p:cNvSpPr txBox="1"/>
          <p:nvPr/>
        </p:nvSpPr>
        <p:spPr>
          <a:xfrm>
            <a:off x="1067082" y="2365608"/>
            <a:ext cx="8686518" cy="10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fusing outputs from both visual and physiological processing pipes, we propose a confidence-weighted fusion algorithm.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63BCC8-7B6E-C0AC-7E89-04A8DF76267F}"/>
              </a:ext>
            </a:extLst>
          </p:cNvPr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6/8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647E1056-0877-6AC2-907A-1C8FABB1CA21}"/>
              </a:ext>
            </a:extLst>
          </p:cNvPr>
          <p:cNvSpPr txBox="1"/>
          <p:nvPr/>
        </p:nvSpPr>
        <p:spPr>
          <a:xfrm>
            <a:off x="1067082" y="4866292"/>
            <a:ext cx="9905718" cy="1032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P_v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Prediction of Visual Model (CNN-RNN)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C_v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Confidence of Visual Model (CNN-RNN)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w_v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-&gt; Adaptive weight of Visual Model (CNN-RNN)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D69A920B-D5B3-AE1E-D4FC-FDD257686AC1}"/>
              </a:ext>
            </a:extLst>
          </p:cNvPr>
          <p:cNvSpPr txBox="1"/>
          <p:nvPr/>
        </p:nvSpPr>
        <p:spPr>
          <a:xfrm>
            <a:off x="1077520" y="6389805"/>
            <a:ext cx="9905718" cy="1725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HR -&gt; Heart Rate data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P_p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Prediction of Physiological Model (rPPG)</a:t>
            </a:r>
          </a:p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C-</a:t>
            </a: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hat_p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00" dirty="0"/>
              <a:t>ffective 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Confidence of Physiological Model (</a:t>
            </a: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rPPG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C_p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Raw confidence score that the </a:t>
            </a: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rPPG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module provides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w_p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Adaptive weight of Physiological Model (</a:t>
            </a: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rppg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457BE07D-B12E-BA2B-19D0-853159D22C19}"/>
              </a:ext>
            </a:extLst>
          </p:cNvPr>
          <p:cNvSpPr txBox="1"/>
          <p:nvPr/>
        </p:nvSpPr>
        <p:spPr>
          <a:xfrm>
            <a:off x="1087959" y="3890491"/>
            <a:ext cx="9905718" cy="340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Terminologies used in the algorithm are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FF171-9E75-F280-EC0B-A2C01A9B8DD6}"/>
              </a:ext>
            </a:extLst>
          </p:cNvPr>
          <p:cNvSpPr txBox="1"/>
          <p:nvPr/>
        </p:nvSpPr>
        <p:spPr>
          <a:xfrm>
            <a:off x="1087959" y="8514412"/>
            <a:ext cx="9905718" cy="686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P_f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Final Prediction</a:t>
            </a:r>
          </a:p>
          <a:p>
            <a:pPr>
              <a:lnSpc>
                <a:spcPts val="2688"/>
              </a:lnSpc>
            </a:pPr>
            <a:r>
              <a:rPr lang="en-US" sz="21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C_f</a:t>
            </a: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-&gt; Final Confidence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A05317-28F2-5B17-6323-FBE4C857B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351529"/>
            <a:ext cx="6870709" cy="85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2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324E-B27E-6DB4-4D9F-3AC3E5E2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1604C8-7B5F-6D37-E106-44E1611F24A7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0D5458A-6EF9-58DA-2549-B7C8866C68AC}"/>
              </a:ext>
            </a:extLst>
          </p:cNvPr>
          <p:cNvSpPr txBox="1"/>
          <p:nvPr/>
        </p:nvSpPr>
        <p:spPr>
          <a:xfrm>
            <a:off x="1067082" y="1009650"/>
            <a:ext cx="11048718" cy="11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6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Fusion System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43F43F-D41E-6F9E-EA85-2C64CD710F2F}"/>
              </a:ext>
            </a:extLst>
          </p:cNvPr>
          <p:cNvSpPr txBox="1"/>
          <p:nvPr/>
        </p:nvSpPr>
        <p:spPr>
          <a:xfrm>
            <a:off x="1067082" y="2365608"/>
            <a:ext cx="9905718" cy="340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8"/>
              </a:lnSpc>
            </a:pPr>
            <a:r>
              <a:rPr lang="en-US" sz="21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Algorithm can be broken down into 3 parts -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D4119F5-8691-7479-3837-22143CF7BA1D}"/>
              </a:ext>
            </a:extLst>
          </p:cNvPr>
          <p:cNvGrpSpPr/>
          <p:nvPr/>
        </p:nvGrpSpPr>
        <p:grpSpPr>
          <a:xfrm>
            <a:off x="1028700" y="3567109"/>
            <a:ext cx="8343900" cy="1208646"/>
            <a:chOff x="0" y="-28575"/>
            <a:chExt cx="11125200" cy="1611528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A9916CA-34BE-A5FC-6F5B-C13DFDCBB705}"/>
                </a:ext>
              </a:extLst>
            </p:cNvPr>
            <p:cNvSpPr txBox="1"/>
            <p:nvPr/>
          </p:nvSpPr>
          <p:spPr>
            <a:xfrm>
              <a:off x="0" y="-28575"/>
              <a:ext cx="10218867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Fallback Condition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6E794F9-650F-9B0D-B292-D8C617CF20AA}"/>
                </a:ext>
              </a:extLst>
            </p:cNvPr>
            <p:cNvSpPr txBox="1"/>
            <p:nvPr/>
          </p:nvSpPr>
          <p:spPr>
            <a:xfrm>
              <a:off x="0" y="622861"/>
              <a:ext cx="11125200" cy="9600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If the rPPG signal is not reliable then the final output is based only on the CNN-RNN Module.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9DC6DC0-76D7-6BE9-1E0A-864A3DDFBA27}"/>
              </a:ext>
            </a:extLst>
          </p:cNvPr>
          <p:cNvGrpSpPr/>
          <p:nvPr/>
        </p:nvGrpSpPr>
        <p:grpSpPr>
          <a:xfrm>
            <a:off x="1067082" y="6094768"/>
            <a:ext cx="8076918" cy="1580541"/>
            <a:chOff x="0" y="-28575"/>
            <a:chExt cx="10769224" cy="2107388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FFB11A9-2653-4870-D238-8C2FF4964A62}"/>
                </a:ext>
              </a:extLst>
            </p:cNvPr>
            <p:cNvSpPr txBox="1"/>
            <p:nvPr/>
          </p:nvSpPr>
          <p:spPr>
            <a:xfrm>
              <a:off x="0" y="-28575"/>
              <a:ext cx="10218867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Adaptive Weight Calculation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BBC7DF2-0DAE-4CDC-1BBF-8A8F3F68A158}"/>
                </a:ext>
              </a:extLst>
            </p:cNvPr>
            <p:cNvSpPr txBox="1"/>
            <p:nvPr/>
          </p:nvSpPr>
          <p:spPr>
            <a:xfrm>
              <a:off x="0" y="622858"/>
              <a:ext cx="10769224" cy="14559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The base weights are set such that the visual model is marginally dominant. These are then modulated by the relative confidence of each model and normalized to sum to 1:</a:t>
              </a: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02E5E491-D42B-8B06-11F5-AE668A6D03C2}"/>
              </a:ext>
            </a:extLst>
          </p:cNvPr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6/8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C11130-FBA3-F399-FE65-032003FF7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63" y="3372440"/>
            <a:ext cx="7316221" cy="11812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65F7FA-2075-4167-4CAB-50E1FADE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821" y="5733296"/>
            <a:ext cx="7243929" cy="2610604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4ACF6BE6-C009-FF24-46F5-E7E1BB19A9B9}"/>
              </a:ext>
            </a:extLst>
          </p:cNvPr>
          <p:cNvSpPr txBox="1"/>
          <p:nvPr/>
        </p:nvSpPr>
        <p:spPr>
          <a:xfrm>
            <a:off x="-398851" y="3629811"/>
            <a:ext cx="1128219" cy="386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491578D-B68D-4453-4DFD-1F3B3AEFEEDA}"/>
              </a:ext>
            </a:extLst>
          </p:cNvPr>
          <p:cNvSpPr txBox="1"/>
          <p:nvPr/>
        </p:nvSpPr>
        <p:spPr>
          <a:xfrm>
            <a:off x="-398851" y="6112081"/>
            <a:ext cx="1128219" cy="386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96023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1ABD-4080-F400-BD22-1E8ABFED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F01DCF-B51D-BE80-3168-460E73DA90B4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F8AB07F-699F-EE7D-D1FA-4333B45A567D}"/>
              </a:ext>
            </a:extLst>
          </p:cNvPr>
          <p:cNvSpPr txBox="1"/>
          <p:nvPr/>
        </p:nvSpPr>
        <p:spPr>
          <a:xfrm>
            <a:off x="1067082" y="1009650"/>
            <a:ext cx="11048718" cy="110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660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Fusion System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4CDF606-C377-1B9B-0FB6-757ACE7C0DDB}"/>
              </a:ext>
            </a:extLst>
          </p:cNvPr>
          <p:cNvGrpSpPr/>
          <p:nvPr/>
        </p:nvGrpSpPr>
        <p:grpSpPr>
          <a:xfrm>
            <a:off x="8974069" y="4251276"/>
            <a:ext cx="7004899" cy="3166424"/>
            <a:chOff x="0" y="-28575"/>
            <a:chExt cx="10769224" cy="3099114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DCBF67A-A2E1-2944-C420-A515BF96AEE7}"/>
                </a:ext>
              </a:extLst>
            </p:cNvPr>
            <p:cNvSpPr txBox="1"/>
            <p:nvPr/>
          </p:nvSpPr>
          <p:spPr>
            <a:xfrm>
              <a:off x="0" y="-28575"/>
              <a:ext cx="10218867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Decision Logic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CAC3052-D8F5-9459-B36A-95E127158170}"/>
                </a:ext>
              </a:extLst>
            </p:cNvPr>
            <p:cNvSpPr txBox="1"/>
            <p:nvPr/>
          </p:nvSpPr>
          <p:spPr>
            <a:xfrm>
              <a:off x="0" y="622859"/>
              <a:ext cx="10769224" cy="24476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If both the models agree, the final confidence is calculated as the weighted average of each of the confidences, amplified by a 30% agreement bonus.</a:t>
              </a:r>
            </a:p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If the models disagree a priority-based method is used to resolve the tie.</a:t>
              </a: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2064C1F-10D1-3BA9-3FC8-657F72C7DFF5}"/>
              </a:ext>
            </a:extLst>
          </p:cNvPr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6/8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A0C8E61E-8622-41FB-D5CD-930961163FDB}"/>
              </a:ext>
            </a:extLst>
          </p:cNvPr>
          <p:cNvSpPr txBox="1"/>
          <p:nvPr/>
        </p:nvSpPr>
        <p:spPr>
          <a:xfrm>
            <a:off x="7548166" y="4285022"/>
            <a:ext cx="1128219" cy="386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III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F8C25E-C99A-7CBD-6E4F-A022060F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17" y="2933700"/>
            <a:ext cx="7182022" cy="55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56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C3DB-8723-B294-E043-62058FB9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BDFC77-3C73-C95C-D0A4-F796B4FE2F1B}"/>
              </a:ext>
            </a:extLst>
          </p:cNvPr>
          <p:cNvSpPr/>
          <p:nvPr/>
        </p:nvSpPr>
        <p:spPr>
          <a:xfrm>
            <a:off x="0" y="2127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4B0A03A-0F3A-AB45-BD43-745A540F8F03}"/>
              </a:ext>
            </a:extLst>
          </p:cNvPr>
          <p:cNvSpPr/>
          <p:nvPr/>
        </p:nvSpPr>
        <p:spPr>
          <a:xfrm>
            <a:off x="-585133" y="96393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20D7E6F-1377-E33C-B6DE-5F2CC48EB8CF}"/>
              </a:ext>
            </a:extLst>
          </p:cNvPr>
          <p:cNvSpPr/>
          <p:nvPr/>
        </p:nvSpPr>
        <p:spPr>
          <a:xfrm>
            <a:off x="-585133" y="91821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D985DF8-D60E-3F6D-9388-DCA69EE1BF5F}"/>
              </a:ext>
            </a:extLst>
          </p:cNvPr>
          <p:cNvSpPr txBox="1"/>
          <p:nvPr/>
        </p:nvSpPr>
        <p:spPr>
          <a:xfrm>
            <a:off x="1028700" y="1557564"/>
            <a:ext cx="7279037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Datasets Used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11C27B-7A20-98FA-D38D-45F3EF7B0D90}"/>
              </a:ext>
            </a:extLst>
          </p:cNvPr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2/8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53566456-EEBA-50C0-A99C-A9926473FA19}"/>
              </a:ext>
            </a:extLst>
          </p:cNvPr>
          <p:cNvSpPr txBox="1"/>
          <p:nvPr/>
        </p:nvSpPr>
        <p:spPr>
          <a:xfrm>
            <a:off x="2694738" y="4534349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Training Dataset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20CC01B4-BE65-6085-3A05-5058628DE515}"/>
              </a:ext>
            </a:extLst>
          </p:cNvPr>
          <p:cNvSpPr txBox="1"/>
          <p:nvPr/>
        </p:nvSpPr>
        <p:spPr>
          <a:xfrm>
            <a:off x="2192695" y="5145261"/>
            <a:ext cx="5016359" cy="14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Deepfake Detection Challenge (DFDC)</a:t>
            </a: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 u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sed as the primary dataset for training the CNN-RNN and calibrating the fusion system.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F75DEC0C-2BEE-5540-34EE-F19D269CE223}"/>
              </a:ext>
            </a:extLst>
          </p:cNvPr>
          <p:cNvSpPr txBox="1"/>
          <p:nvPr/>
        </p:nvSpPr>
        <p:spPr>
          <a:xfrm>
            <a:off x="8212274" y="4543647"/>
            <a:ext cx="7446302" cy="488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Generalization &amp; Testing Datasets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35568F92-8AD9-6DA8-ADC0-38E462108970}"/>
              </a:ext>
            </a:extLst>
          </p:cNvPr>
          <p:cNvSpPr txBox="1"/>
          <p:nvPr/>
        </p:nvSpPr>
        <p:spPr>
          <a:xfrm>
            <a:off x="9144000" y="5131508"/>
            <a:ext cx="6019800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b="1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Celeb-DF (v2) 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</a:t>
            </a:r>
            <a:r>
              <a:rPr lang="en-US" sz="2099" b="1" u="none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FaceForensics</a:t>
            </a:r>
            <a:r>
              <a:rPr lang="en-US" sz="2099" b="1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++ 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are used to evaluate robustness against diverse manipulation methods.</a:t>
            </a: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D182B133-65E1-84C7-E7C7-6A40A684D0D2}"/>
              </a:ext>
            </a:extLst>
          </p:cNvPr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60254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9C0BF-83FF-AE70-86DF-522FD91C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6DAD6C-C966-38FB-F31E-6C41975E29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4737616-21D7-8A43-66FE-C5388D82257A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FE353E7-A460-51DF-0748-5BBA82373E64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BC4F521-1F35-6E35-1534-29B22C1DFACA}"/>
              </a:ext>
            </a:extLst>
          </p:cNvPr>
          <p:cNvSpPr txBox="1"/>
          <p:nvPr/>
        </p:nvSpPr>
        <p:spPr>
          <a:xfrm>
            <a:off x="1295400" y="1163955"/>
            <a:ext cx="10880818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and Comparison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C4FDF35-D7B4-9B67-AD00-C8DC625B8DC1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7/8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94BD1B-2B97-8ABF-0721-08CC948CFD06}"/>
              </a:ext>
            </a:extLst>
          </p:cNvPr>
          <p:cNvSpPr txBox="1"/>
          <p:nvPr/>
        </p:nvSpPr>
        <p:spPr>
          <a:xfrm>
            <a:off x="1371600" y="2144984"/>
            <a:ext cx="11887200" cy="731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multi-modal framework reaches competitive performance with other state-of-the-art techniques,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627B2-2191-7F9E-C658-6F0C114B3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583" y="3142052"/>
            <a:ext cx="12365176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2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-585133" y="88011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flipH="1">
            <a:off x="1541235" y="2294480"/>
            <a:ext cx="5760372" cy="4843564"/>
          </a:xfrm>
          <a:custGeom>
            <a:avLst/>
            <a:gdLst/>
            <a:ahLst/>
            <a:cxnLst/>
            <a:rect l="l" t="t" r="r" b="b"/>
            <a:pathLst>
              <a:path w="8790178" h="8790178">
                <a:moveTo>
                  <a:pt x="8790178" y="8790178"/>
                </a:moveTo>
                <a:lnTo>
                  <a:pt x="0" y="8790178"/>
                </a:lnTo>
                <a:lnTo>
                  <a:pt x="0" y="0"/>
                </a:lnTo>
                <a:lnTo>
                  <a:pt x="8790178" y="0"/>
                </a:lnTo>
                <a:lnTo>
                  <a:pt x="8790178" y="8790178"/>
                </a:lnTo>
                <a:close/>
                <a:moveTo>
                  <a:pt x="19050" y="8771128"/>
                </a:moveTo>
                <a:lnTo>
                  <a:pt x="8771128" y="8771128"/>
                </a:lnTo>
                <a:lnTo>
                  <a:pt x="8771128" y="19050"/>
                </a:lnTo>
                <a:lnTo>
                  <a:pt x="19050" y="19050"/>
                </a:lnTo>
                <a:lnTo>
                  <a:pt x="19050" y="8771128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7" name="Freeform 17"/>
          <p:cNvSpPr/>
          <p:nvPr/>
        </p:nvSpPr>
        <p:spPr>
          <a:xfrm>
            <a:off x="4042575" y="791841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763466" y="793147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Plots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7/8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45801" y="7314381"/>
            <a:ext cx="3931704" cy="70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Training and Validation Accuracy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49000" y="7327855"/>
            <a:ext cx="4053624" cy="70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Training and Validation </a:t>
            </a:r>
          </a:p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Loss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1063B1-6BC1-EB06-D9B8-33B1F67C73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560" y="2510116"/>
            <a:ext cx="5285242" cy="43068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BEF3B78-DD05-EF9D-32F9-D3737995F4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750" y="2510116"/>
            <a:ext cx="5340107" cy="4306833"/>
          </a:xfrm>
          <a:prstGeom prst="rect">
            <a:avLst/>
          </a:prstGeom>
        </p:spPr>
      </p:pic>
      <p:sp>
        <p:nvSpPr>
          <p:cNvPr id="40" name="Freeform 7">
            <a:extLst>
              <a:ext uri="{FF2B5EF4-FFF2-40B4-BE49-F238E27FC236}">
                <a16:creationId xmlns:a16="http://schemas.microsoft.com/office/drawing/2014/main" id="{7AF1000F-D217-2E8C-F298-350BFD35C642}"/>
              </a:ext>
            </a:extLst>
          </p:cNvPr>
          <p:cNvSpPr/>
          <p:nvPr/>
        </p:nvSpPr>
        <p:spPr>
          <a:xfrm flipH="1">
            <a:off x="9914617" y="2327910"/>
            <a:ext cx="5760372" cy="4843564"/>
          </a:xfrm>
          <a:custGeom>
            <a:avLst/>
            <a:gdLst/>
            <a:ahLst/>
            <a:cxnLst/>
            <a:rect l="l" t="t" r="r" b="b"/>
            <a:pathLst>
              <a:path w="8790178" h="8790178">
                <a:moveTo>
                  <a:pt x="8790178" y="8790178"/>
                </a:moveTo>
                <a:lnTo>
                  <a:pt x="0" y="8790178"/>
                </a:lnTo>
                <a:lnTo>
                  <a:pt x="0" y="0"/>
                </a:lnTo>
                <a:lnTo>
                  <a:pt x="8790178" y="0"/>
                </a:lnTo>
                <a:lnTo>
                  <a:pt x="8790178" y="8790178"/>
                </a:lnTo>
                <a:close/>
                <a:moveTo>
                  <a:pt x="19050" y="8771128"/>
                </a:moveTo>
                <a:lnTo>
                  <a:pt x="8771128" y="8771128"/>
                </a:lnTo>
                <a:lnTo>
                  <a:pt x="8771128" y="19050"/>
                </a:lnTo>
                <a:lnTo>
                  <a:pt x="19050" y="19050"/>
                </a:lnTo>
                <a:lnTo>
                  <a:pt x="19050" y="8771128"/>
                </a:lnTo>
                <a:close/>
              </a:path>
            </a:pathLst>
          </a:custGeom>
          <a:solidFill>
            <a:srgbClr val="000000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16FB-6636-2BC9-52BD-82C74973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8AC490-0ED8-6C26-35AF-D60A892EC5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038E8D-AFA0-D8AE-6E11-532BF1CE91F0}"/>
              </a:ext>
            </a:extLst>
          </p:cNvPr>
          <p:cNvSpPr/>
          <p:nvPr/>
        </p:nvSpPr>
        <p:spPr>
          <a:xfrm>
            <a:off x="-585133" y="88011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66F1B98-7395-D4ED-A192-47D0D75E33C2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8A23387-64F1-52BA-4800-805BF999A15C}"/>
              </a:ext>
            </a:extLst>
          </p:cNvPr>
          <p:cNvSpPr/>
          <p:nvPr/>
        </p:nvSpPr>
        <p:spPr>
          <a:xfrm flipH="1">
            <a:off x="1541235" y="2294480"/>
            <a:ext cx="5760372" cy="4843564"/>
          </a:xfrm>
          <a:custGeom>
            <a:avLst/>
            <a:gdLst/>
            <a:ahLst/>
            <a:cxnLst/>
            <a:rect l="l" t="t" r="r" b="b"/>
            <a:pathLst>
              <a:path w="8790178" h="8790178">
                <a:moveTo>
                  <a:pt x="8790178" y="8790178"/>
                </a:moveTo>
                <a:lnTo>
                  <a:pt x="0" y="8790178"/>
                </a:lnTo>
                <a:lnTo>
                  <a:pt x="0" y="0"/>
                </a:lnTo>
                <a:lnTo>
                  <a:pt x="8790178" y="0"/>
                </a:lnTo>
                <a:lnTo>
                  <a:pt x="8790178" y="8790178"/>
                </a:lnTo>
                <a:close/>
                <a:moveTo>
                  <a:pt x="19050" y="8771128"/>
                </a:moveTo>
                <a:lnTo>
                  <a:pt x="8771128" y="8771128"/>
                </a:lnTo>
                <a:lnTo>
                  <a:pt x="8771128" y="19050"/>
                </a:lnTo>
                <a:lnTo>
                  <a:pt x="19050" y="19050"/>
                </a:lnTo>
                <a:lnTo>
                  <a:pt x="19050" y="8771128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625F9CF-8EE1-090B-5811-7390A80D45DA}"/>
              </a:ext>
            </a:extLst>
          </p:cNvPr>
          <p:cNvSpPr/>
          <p:nvPr/>
        </p:nvSpPr>
        <p:spPr>
          <a:xfrm>
            <a:off x="4042575" y="791841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C5AA9D6-E11F-7893-750F-367C4F0E6938}"/>
              </a:ext>
            </a:extLst>
          </p:cNvPr>
          <p:cNvSpPr/>
          <p:nvPr/>
        </p:nvSpPr>
        <p:spPr>
          <a:xfrm>
            <a:off x="12763466" y="7931475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1DDAB8A-AF74-7E82-AAAC-2D61B3A37157}"/>
              </a:ext>
            </a:extLst>
          </p:cNvPr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Plots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EE53043-1D97-649A-FE94-53FDD85C2405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7/8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1EC87FE-72E6-51C1-7FA3-4F15F21D239D}"/>
              </a:ext>
            </a:extLst>
          </p:cNvPr>
          <p:cNvSpPr txBox="1"/>
          <p:nvPr/>
        </p:nvSpPr>
        <p:spPr>
          <a:xfrm>
            <a:off x="2545801" y="7314381"/>
            <a:ext cx="3931704" cy="70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ROC Curve</a:t>
            </a:r>
          </a:p>
          <a:p>
            <a:pPr algn="ctr">
              <a:lnSpc>
                <a:spcPts val="2794"/>
              </a:lnSpc>
            </a:pPr>
            <a:r>
              <a:rPr lang="en-US" sz="1996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CelebDF</a:t>
            </a:r>
            <a:endParaRPr lang="en-US" sz="1996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32BF84B-0E8F-D74B-06DE-3DEB2EFBF1BA}"/>
              </a:ext>
            </a:extLst>
          </p:cNvPr>
          <p:cNvSpPr txBox="1"/>
          <p:nvPr/>
        </p:nvSpPr>
        <p:spPr>
          <a:xfrm>
            <a:off x="11049000" y="7327855"/>
            <a:ext cx="4053624" cy="705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ROC Curve</a:t>
            </a:r>
          </a:p>
          <a:p>
            <a:pPr algn="ctr">
              <a:lnSpc>
                <a:spcPts val="2794"/>
              </a:lnSpc>
            </a:pPr>
            <a:r>
              <a:rPr lang="en-US" sz="199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DDFDC</a:t>
            </a:r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2B856091-609C-38EE-0782-EAA7D48C1AF7}"/>
              </a:ext>
            </a:extLst>
          </p:cNvPr>
          <p:cNvSpPr/>
          <p:nvPr/>
        </p:nvSpPr>
        <p:spPr>
          <a:xfrm flipH="1">
            <a:off x="9914617" y="2327910"/>
            <a:ext cx="5760372" cy="4843564"/>
          </a:xfrm>
          <a:custGeom>
            <a:avLst/>
            <a:gdLst/>
            <a:ahLst/>
            <a:cxnLst/>
            <a:rect l="l" t="t" r="r" b="b"/>
            <a:pathLst>
              <a:path w="8790178" h="8790178">
                <a:moveTo>
                  <a:pt x="8790178" y="8790178"/>
                </a:moveTo>
                <a:lnTo>
                  <a:pt x="0" y="8790178"/>
                </a:lnTo>
                <a:lnTo>
                  <a:pt x="0" y="0"/>
                </a:lnTo>
                <a:lnTo>
                  <a:pt x="8790178" y="0"/>
                </a:lnTo>
                <a:lnTo>
                  <a:pt x="8790178" y="8790178"/>
                </a:lnTo>
                <a:close/>
                <a:moveTo>
                  <a:pt x="19050" y="8771128"/>
                </a:moveTo>
                <a:lnTo>
                  <a:pt x="8771128" y="8771128"/>
                </a:lnTo>
                <a:lnTo>
                  <a:pt x="8771128" y="19050"/>
                </a:lnTo>
                <a:lnTo>
                  <a:pt x="19050" y="19050"/>
                </a:lnTo>
                <a:lnTo>
                  <a:pt x="19050" y="8771128"/>
                </a:lnTo>
                <a:close/>
              </a:path>
            </a:pathLst>
          </a:custGeom>
          <a:solidFill>
            <a:srgbClr val="000000"/>
          </a:solid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131E6-E3C4-54D4-F1B8-8EE63DDAF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964" y="2520894"/>
            <a:ext cx="5396636" cy="4323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20D457-2004-2B80-A550-F33F3F64D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6883" y="2520894"/>
            <a:ext cx="5277626" cy="439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27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E948-F6AB-4F88-47E6-4C586FF8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4C0B81-D733-EE83-701F-858CF0B8648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A31E6C-DC20-C3FC-CEF4-41A71FA4193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93807B0-A49F-15AD-A10D-3D31D4D3952E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1D9CAC-90A6-C123-2930-5BDA5E5D997D}"/>
              </a:ext>
            </a:extLst>
          </p:cNvPr>
          <p:cNvSpPr txBox="1"/>
          <p:nvPr/>
        </p:nvSpPr>
        <p:spPr>
          <a:xfrm>
            <a:off x="1295400" y="1163955"/>
            <a:ext cx="10880818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and Comparison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E3F4B23-7E47-FBCF-725B-7494F5ACA8BC}"/>
              </a:ext>
            </a:extLst>
          </p:cNvPr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7/8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9285B2F-C94D-DDCE-014B-8EAC1ABCB96C}"/>
              </a:ext>
            </a:extLst>
          </p:cNvPr>
          <p:cNvSpPr txBox="1"/>
          <p:nvPr/>
        </p:nvSpPr>
        <p:spPr>
          <a:xfrm>
            <a:off x="1371600" y="2144984"/>
            <a:ext cx="11887200" cy="731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provide a more granular comparison and specifically test generalization, we also evaluated our model on the challenging </a:t>
            </a:r>
            <a:r>
              <a:rPr lang="en-US" sz="20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FaceForensics</a:t>
            </a: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++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400E5F-01C0-7F67-79D9-2A267F12B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277" y="3405235"/>
            <a:ext cx="12749445" cy="41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04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15074698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62887"/>
            <a:ext cx="568354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Future 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8/8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5619184"/>
            <a:ext cx="3429000" cy="1595929"/>
            <a:chOff x="-406776" y="-28575"/>
            <a:chExt cx="4572000" cy="2127904"/>
          </a:xfrm>
        </p:grpSpPr>
        <p:sp>
          <p:nvSpPr>
            <p:cNvPr id="11" name="TextBox 11"/>
            <p:cNvSpPr txBox="1"/>
            <p:nvPr/>
          </p:nvSpPr>
          <p:spPr>
            <a:xfrm>
              <a:off x="-406776" y="-28575"/>
              <a:ext cx="4572000" cy="538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Vision Transformer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-406776" y="622858"/>
              <a:ext cx="4368800" cy="14764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Integration of VIT as a parallel spatial feature extractor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0" y="5604207"/>
            <a:ext cx="3200400" cy="1226341"/>
            <a:chOff x="-273051" y="-28575"/>
            <a:chExt cx="4267201" cy="1635121"/>
          </a:xfrm>
        </p:grpSpPr>
        <p:sp>
          <p:nvSpPr>
            <p:cNvPr id="14" name="TextBox 14"/>
            <p:cNvSpPr txBox="1"/>
            <p:nvPr/>
          </p:nvSpPr>
          <p:spPr>
            <a:xfrm>
              <a:off x="-273051" y="-28575"/>
              <a:ext cx="4267201" cy="5386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Dataset Expansion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273051" y="622858"/>
              <a:ext cx="4267201" cy="9836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200" dirty="0">
                  <a:latin typeface="Garet" panose="020B0604020202020204" charset="0"/>
                </a:rPr>
                <a:t>Training on more diverse datasets</a:t>
              </a:r>
              <a:r>
                <a:rPr lang="en-US" sz="2200" dirty="0">
                  <a:solidFill>
                    <a:srgbClr val="000000"/>
                  </a:solidFill>
                  <a:latin typeface="Garet" panose="020B0604020202020204" charset="0"/>
                  <a:ea typeface="Garet"/>
                  <a:cs typeface="Garet"/>
                  <a:sym typeface="Garet"/>
                </a:rPr>
                <a:t>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96276" y="5604207"/>
            <a:ext cx="3428999" cy="1595929"/>
            <a:chOff x="0" y="-28575"/>
            <a:chExt cx="3036979" cy="212790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3036979" cy="1085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Adversarial Training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22859"/>
              <a:ext cx="3036979" cy="1476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Using the detector as a discriminator within a GAN framework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924550" y="4145272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820400" y="4111641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739036"/>
            <a:ext cx="12763500" cy="774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96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sp>
        <p:nvSpPr>
          <p:cNvPr id="6" name="AutoShape 6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5738073"/>
            <a:ext cx="23241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Mahi Chaudhary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400" y="5718562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2022UCA1808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330711"/>
            <a:ext cx="214954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Tanmay Pawar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1400" y="6311200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2022UCA1850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923349"/>
            <a:ext cx="214954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Krrish Kumar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81400" y="69038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2022UCA1880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803775"/>
            <a:ext cx="476468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109</a:t>
            </a: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786EE92-5AC3-D84D-E886-973387045F9F}"/>
              </a:ext>
            </a:extLst>
          </p:cNvPr>
          <p:cNvSpPr/>
          <p:nvPr/>
        </p:nvSpPr>
        <p:spPr>
          <a:xfrm>
            <a:off x="12801600" y="5718562"/>
            <a:ext cx="3449228" cy="1794704"/>
          </a:xfrm>
          <a:custGeom>
            <a:avLst/>
            <a:gdLst/>
            <a:ahLst/>
            <a:cxnLst/>
            <a:rect l="l" t="t" r="r" b="b"/>
            <a:pathLst>
              <a:path w="2611028" h="1428944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1D947D3B-B02E-B491-328F-915C432654FA}"/>
              </a:ext>
            </a:extLst>
          </p:cNvPr>
          <p:cNvSpPr/>
          <p:nvPr/>
        </p:nvSpPr>
        <p:spPr>
          <a:xfrm>
            <a:off x="12801600" y="1113222"/>
            <a:ext cx="3352800" cy="4411278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960</Words>
  <Application>Microsoft Office PowerPoint</Application>
  <PresentationFormat>Custom</PresentationFormat>
  <Paragraphs>163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Archivo Black</vt:lpstr>
      <vt:lpstr>Arial</vt:lpstr>
      <vt:lpstr>Garet</vt:lpstr>
      <vt:lpstr>Garet Bold</vt:lpstr>
      <vt:lpstr>Garet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dc:creator>KK</dc:creator>
  <cp:lastModifiedBy>Krrish Kumar</cp:lastModifiedBy>
  <cp:revision>10</cp:revision>
  <cp:lastPrinted>2025-09-28T13:52:55Z</cp:lastPrinted>
  <dcterms:created xsi:type="dcterms:W3CDTF">2006-08-16T00:00:00Z</dcterms:created>
  <dcterms:modified xsi:type="dcterms:W3CDTF">2026-01-12T18:31:12Z</dcterms:modified>
  <dc:identifier>DAG0QLKCM0c</dc:identifier>
</cp:coreProperties>
</file>